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Relationship Id="rId1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chatbot_phaseskill — 밋업 발표용 키노트 자료</a:t>
            </a:r>
          </a:p>
        </p:txBody>
      </p:sp>
      <p:sp>
        <p:nvSpPr>
          <p:cNvPr id="3" name="Body 1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phase-skill 기반 상담 접수 챗봇 데모</a:t>
            </a:r>
          </a:p>
          <a:p>
            <a:pPr marL="342900" indent="-171450">
              <a:buChar char="•"/>
            </a:pPr>
            <a:r>
              <a:rPr lang="ko-KR" sz="2500"/>
              <a:t>LLM 응답 + deterministic 슬롯 엔진 + SQLite 통계 대시보드</a:t>
            </a:r>
          </a:p>
          <a:p>
            <a:pPr marL="342900" indent="-171450">
              <a:buChar char="•"/>
            </a:pPr>
            <a:r>
              <a:rPr lang="ko-KR" sz="2500"/>
              <a:t>프롬프트 인젝션 레드팀까지 포함한 밋업 발표 자료</a:t>
            </a:r>
          </a:p>
        </p:txBody>
      </p:sp>
      <p:sp>
        <p:nvSpPr>
          <p:cNvPr id="4" name="Footer 1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1. 왜 이 챗봇인가</a:t>
            </a:r>
          </a:p>
        </p:txBody>
      </p:sp>
      <p:sp>
        <p:nvSpPr>
          <p:cNvPr id="3" name="Body 2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상담 전 “첫 접수”는 대화가 아니라 구조화된 정보 수집이다.</a:t>
            </a:r>
          </a:p>
          <a:p>
            <a:pPr marL="342900" indent="-171450">
              <a:buChar char="•"/>
            </a:pPr>
            <a:r>
              <a:rPr lang="ko-KR" sz="2500"/>
              <a:t>사용자는 길게 설명하고, 운영자는 안전·트랙·요약을 빠뜨리면 안 된다.</a:t>
            </a:r>
          </a:p>
          <a:p>
            <a:pPr marL="342900" indent="-171450">
              <a:buChar char="•"/>
            </a:pPr>
            <a:r>
              <a:rPr lang="ko-KR" sz="2500"/>
              <a:t>목표: 사람 말투로 반응하되, 핵심 판단은 코드와 스키마가 잡는 챗봇.</a:t>
            </a:r>
          </a:p>
        </p:txBody>
      </p:sp>
      <p:sp>
        <p:nvSpPr>
          <p:cNvPr id="4" name="Footer 2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2. 핵심 설계 한 줄</a:t>
            </a:r>
          </a:p>
        </p:txBody>
      </p:sp>
      <p:sp>
        <p:nvSpPr>
          <p:cNvPr id="3" name="Body 3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LLM은 “말투와 반응성”을 맡는다.</a:t>
            </a:r>
          </a:p>
          <a:p>
            <a:pPr marL="342900" indent="-171450">
              <a:buChar char="•"/>
            </a:pPr>
            <a:r>
              <a:rPr lang="ko-KR" sz="2500"/>
              <a:t>슬롯 엔진은 “무엇을 물을지, 무엇을 저장할지”를 맡는다.</a:t>
            </a:r>
          </a:p>
          <a:p>
            <a:pPr marL="342900" indent="-171450">
              <a:buChar char="•"/>
            </a:pPr>
            <a:r>
              <a:rPr lang="ko-KR" sz="2500"/>
              <a:t>저장/통계는 “나중에 활용 가능한 접수 데이터”를 만든다.</a:t>
            </a:r>
          </a:p>
        </p:txBody>
      </p:sp>
      <p:sp>
        <p:nvSpPr>
          <p:cNvPr id="4" name="Footer 3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3. 전체 흐름</a:t>
            </a:r>
          </a:p>
        </p:txBody>
      </p:sp>
      <p:sp>
        <p:nvSpPr>
          <p:cNvPr id="3" name="Body 4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브라우저: session_id + participant_id 생성.</a:t>
            </a:r>
          </a:p>
          <a:p>
            <a:pPr marL="342900" indent="-171450">
              <a:buChar char="•"/>
            </a:pPr>
            <a:r>
              <a:rPr lang="ko-KR" sz="2500"/>
              <a:t>FastAPI: 입력 검증, rate limit, 안전 필터.</a:t>
            </a:r>
          </a:p>
          <a:p>
            <a:pPr marL="342900" indent="-171450">
              <a:buChar char="•"/>
            </a:pPr>
            <a:r>
              <a:rPr lang="ko-KR" sz="2500"/>
              <a:t>Chat loop: 지식 검색 + 슬롯 상태 + LLM 응답.</a:t>
            </a:r>
          </a:p>
          <a:p>
            <a:pPr marL="342900" indent="-171450">
              <a:buChar char="•"/>
            </a:pPr>
            <a:r>
              <a:rPr lang="ko-KR" sz="2500"/>
              <a:t>Storage: JSON 로그 저장 → SQLite 배치 적재.</a:t>
            </a:r>
          </a:p>
          <a:p>
            <a:pPr marL="342900" indent="-171450">
              <a:buChar char="•"/>
            </a:pPr>
            <a:r>
              <a:rPr lang="ko-KR" sz="2500"/>
              <a:t>Dashboard: 트랙·슬롯·위기 세션 통계 시각화.</a:t>
            </a:r>
          </a:p>
        </p:txBody>
      </p:sp>
      <p:sp>
        <p:nvSpPr>
          <p:cNvPr id="4" name="Footer 4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4. Phase-skill 방식</a:t>
            </a:r>
          </a:p>
        </p:txBody>
      </p:sp>
      <p:sp>
        <p:nvSpPr>
          <p:cNvPr id="3" name="Body 5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요구사항을 phase로 쪼개고, 각 phase마다 검증 조건을 둔다.</a:t>
            </a:r>
          </a:p>
          <a:p>
            <a:pPr marL="342900" indent="-171450">
              <a:buChar char="•"/>
            </a:pPr>
            <a:r>
              <a:rPr lang="ko-KR" sz="2500"/>
              <a:t>“상담처럼 보여야 함”이 아니라 “몇 번째 턴에 어떤 슬롯이 채워지는가”를 테스트한다.</a:t>
            </a:r>
          </a:p>
          <a:p>
            <a:pPr marL="342900" indent="-171450">
              <a:buChar char="•"/>
            </a:pPr>
            <a:r>
              <a:rPr lang="ko-KR" sz="2500"/>
              <a:t>버그 로그: 반복 질문, 트랙 오분류, 위기 과탐지 트레이드오프를 판단 기록에 남김.</a:t>
            </a:r>
          </a:p>
        </p:txBody>
      </p:sp>
      <p:sp>
        <p:nvSpPr>
          <p:cNvPr id="4" name="Footer 5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5. 대화 엔진</a:t>
            </a:r>
          </a:p>
        </p:txBody>
      </p:sp>
      <p:sp>
        <p:nvSpPr>
          <p:cNvPr id="3" name="Body 6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`knowledge/_intake_schema.md`: 트랙, 슬롯, 질문, 신호어, red flag 선언.</a:t>
            </a:r>
          </a:p>
          <a:p>
            <a:pPr marL="342900" indent="-171450">
              <a:buChar char="•"/>
            </a:pPr>
            <a:r>
              <a:rPr lang="ko-KR" sz="2500"/>
              <a:t>`app/intake.py`: deterministic slot extraction.</a:t>
            </a:r>
          </a:p>
          <a:p>
            <a:pPr marL="342900" indent="-171450">
              <a:buChar char="•"/>
            </a:pPr>
            <a:r>
              <a:rPr lang="ko-KR" sz="2500"/>
              <a:t>`app/chat.py`: 상태 관리, 질문 순서, LLM 프롬프트 구성.</a:t>
            </a:r>
          </a:p>
          <a:p>
            <a:pPr marL="342900" indent="-171450">
              <a:buChar char="•"/>
            </a:pPr>
            <a:r>
              <a:rPr lang="ko-KR" sz="2500"/>
              <a:t>같은 질문 반복 방지: 직전 질문의 free-text 답변을 슬롯으로 수용.</a:t>
            </a:r>
          </a:p>
        </p:txBody>
      </p:sp>
      <p:sp>
        <p:nvSpPr>
          <p:cNvPr id="4" name="Footer 6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6. 모델은 교체 가능해야 한다</a:t>
            </a:r>
          </a:p>
        </p:txBody>
      </p:sp>
      <p:sp>
        <p:nvSpPr>
          <p:cNvPr id="3" name="Body 7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`MODEL=fake`: API 없이 테스트.</a:t>
            </a:r>
          </a:p>
          <a:p>
            <a:pPr marL="342900" indent="-171450">
              <a:buChar char="•"/>
            </a:pPr>
            <a:r>
              <a:rPr lang="ko-KR" sz="2500"/>
              <a:t>`MODEL=claude-cli`: 로컬 Claude CLI.</a:t>
            </a:r>
          </a:p>
          <a:p>
            <a:pPr marL="342900" indent="-171450">
              <a:buChar char="•"/>
            </a:pPr>
            <a:r>
              <a:rPr lang="ko-KR" sz="2500"/>
              <a:t>`MODEL=codex-cli` / `CODEX_MODEL=gpt-5.4`: Codex CLI.</a:t>
            </a:r>
          </a:p>
          <a:p>
            <a:pPr marL="342900" indent="-171450">
              <a:buChar char="•"/>
            </a:pPr>
            <a:r>
              <a:rPr lang="ko-KR" sz="2500"/>
              <a:t>다음 확장: Ollama, OpenAI-compatible endpoint, 도메인별 knowledge pack.</a:t>
            </a:r>
          </a:p>
        </p:txBody>
      </p:sp>
      <p:sp>
        <p:nvSpPr>
          <p:cNvPr id="4" name="Footer 7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7. 저장 구조</a:t>
            </a:r>
          </a:p>
        </p:txBody>
      </p:sp>
      <p:sp>
        <p:nvSpPr>
          <p:cNvPr id="3" name="Body 8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JSON: `data/conversations/YYYY-MM-DD/{session_id}.json`.</a:t>
            </a:r>
          </a:p>
          <a:p>
            <a:pPr marL="342900" indent="-171450">
              <a:buChar char="•"/>
            </a:pPr>
            <a:r>
              <a:rPr lang="ko-KR" sz="2500"/>
              <a:t>SQLite: participants / conversations / turns.</a:t>
            </a:r>
          </a:p>
          <a:p>
            <a:pPr marL="342900" indent="-171450">
              <a:buChar char="•"/>
            </a:pPr>
            <a:r>
              <a:rPr lang="ko-KR" sz="2500"/>
              <a:t>participant_id는 이름 대신 쓰는 로컬 개인번호.</a:t>
            </a:r>
          </a:p>
          <a:p>
            <a:pPr marL="342900" indent="-171450">
              <a:buChar char="•"/>
            </a:pPr>
            <a:r>
              <a:rPr lang="ko-KR" sz="2500"/>
              <a:t>세션과 개인번호를 분리해 나중에 데이터 연동은 가능하지만 직접 식별은 줄인다.</a:t>
            </a:r>
          </a:p>
        </p:txBody>
      </p:sp>
      <p:sp>
        <p:nvSpPr>
          <p:cNvPr id="4" name="Footer 8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8. 통계 대시보드</a:t>
            </a:r>
          </a:p>
        </p:txBody>
      </p:sp>
      <p:sp>
        <p:nvSpPr>
          <p:cNvPr id="3" name="Body 9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`/api/stats`: SQLite를 읽어 요약 JSON 반환.</a:t>
            </a:r>
          </a:p>
          <a:p>
            <a:pPr marL="342900" indent="-171450">
              <a:buChar char="•"/>
            </a:pPr>
            <a:r>
              <a:rPr lang="ko-KR" sz="2500"/>
              <a:t>`/stats.html`: 핵심 지표, 트랙 분포, 슬롯 채움률, 최근 세션.</a:t>
            </a:r>
          </a:p>
          <a:p>
            <a:pPr marL="342900" indent="-171450">
              <a:buChar char="•"/>
            </a:pPr>
            <a:r>
              <a:rPr lang="ko-KR" sz="2500"/>
              <a:t>100명 합성 프로파일로 실제와 가까운 적재·분석 흐름을 시연.</a:t>
            </a:r>
          </a:p>
        </p:txBody>
      </p:sp>
      <p:sp>
        <p:nvSpPr>
          <p:cNvPr id="4" name="Footer 9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9. 프롬프트 인젝션 위협</a:t>
            </a:r>
          </a:p>
        </p:txBody>
      </p:sp>
      <p:sp>
        <p:nvSpPr>
          <p:cNvPr id="3" name="Body 10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직접: “이전 지시 무시”, “시스템 프롬프트 출력”.</a:t>
            </a:r>
          </a:p>
          <a:p>
            <a:pPr marL="342900" indent="-171450">
              <a:buChar char="•"/>
            </a:pPr>
            <a:r>
              <a:rPr lang="ko-KR" sz="2500"/>
              <a:t>간접: 문서/RAG 안에 숨은 assistant instruction.</a:t>
            </a:r>
          </a:p>
          <a:p>
            <a:pPr marL="342900" indent="-171450">
              <a:buChar char="•"/>
            </a:pPr>
            <a:r>
              <a:rPr lang="ko-KR" sz="2500"/>
              <a:t>난독화: Base64, hex, zero-width Unicode, typoglycemia.</a:t>
            </a:r>
          </a:p>
          <a:p>
            <a:pPr marL="342900" indent="-171450">
              <a:buChar char="•"/>
            </a:pPr>
            <a:r>
              <a:rPr lang="ko-KR" sz="2500"/>
              <a:t>렌더링: Markdown 이미지, HTML tag, 숨은 링크.</a:t>
            </a:r>
          </a:p>
          <a:p>
            <a:pPr marL="342900" indent="-171450">
              <a:buChar char="•"/>
            </a:pPr>
            <a:r>
              <a:rPr lang="ko-KR" sz="2500"/>
              <a:t>다중 턴: 앞턴에서 암호/트리거를 심는 방식.</a:t>
            </a:r>
          </a:p>
        </p:txBody>
      </p:sp>
      <p:sp>
        <p:nvSpPr>
          <p:cNvPr id="4" name="Footer 10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10. 현재 방어층</a:t>
            </a:r>
          </a:p>
        </p:txBody>
      </p:sp>
      <p:sp>
        <p:nvSpPr>
          <p:cNvPr id="3" name="Body 11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LLM 호출 전 deterministic safety filter.</a:t>
            </a:r>
          </a:p>
          <a:p>
            <a:pPr marL="342900" indent="-171450">
              <a:buChar char="•"/>
            </a:pPr>
            <a:r>
              <a:rPr lang="ko-KR" sz="2500"/>
              <a:t>검색 문서는 `[untrusted_knowledge]` 데이터로 격리.</a:t>
            </a:r>
          </a:p>
          <a:p>
            <a:pPr marL="342900" indent="-171450">
              <a:buChar char="•"/>
            </a:pPr>
            <a:r>
              <a:rPr lang="ko-KR" sz="2500"/>
              <a:t>모델 출력에서 시스템 지시·키·HTML·원격 이미지 차단.</a:t>
            </a:r>
          </a:p>
          <a:p>
            <a:pPr marL="342900" indent="-171450">
              <a:buChar char="•"/>
            </a:pPr>
            <a:r>
              <a:rPr lang="ko-KR" sz="2500"/>
              <a:t>위기 신호가 섞이면 인젝션보다 안전 확인 우선.</a:t>
            </a:r>
          </a:p>
          <a:p>
            <a:pPr marL="342900" indent="-171450">
              <a:buChar char="•"/>
            </a:pPr>
            <a:r>
              <a:rPr lang="ko-KR" sz="2500"/>
              <a:t>모델에게 도구 권한을 주지 않아 피해 범위를 줄임.</a:t>
            </a:r>
          </a:p>
        </p:txBody>
      </p:sp>
      <p:sp>
        <p:nvSpPr>
          <p:cNvPr id="4" name="Footer 11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11. 레드팀과 한계</a:t>
            </a:r>
          </a:p>
        </p:txBody>
      </p:sp>
      <p:sp>
        <p:nvSpPr>
          <p:cNvPr id="3" name="Body 12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자동 레드팀: direct, typoglycemia, encoded, markdown/html, crisis-mixed.</a:t>
            </a:r>
          </a:p>
          <a:p>
            <a:pPr marL="342900" indent="-171450">
              <a:buChar char="•"/>
            </a:pPr>
            <a:r>
              <a:rPr lang="ko-KR" sz="2500"/>
              <a:t>OWASP/NCSC 관점: 프롬프트 인젝션은 완전 제거가 아니라 risk reduction.</a:t>
            </a:r>
          </a:p>
          <a:p>
            <a:pPr marL="342900" indent="-171450">
              <a:buChar char="•"/>
            </a:pPr>
            <a:r>
              <a:rPr lang="ko-KR" sz="2500"/>
              <a:t>공개 서비스 전환 전 필요: 보존 기간, 삭제 요청, 암호화, provider 분리, 사람 보안 검토.</a:t>
            </a:r>
          </a:p>
        </p:txBody>
      </p:sp>
      <p:sp>
        <p:nvSpPr>
          <p:cNvPr id="4" name="Footer 12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12. 시연 순서</a:t>
            </a:r>
          </a:p>
        </p:txBody>
      </p:sp>
      <p:sp>
        <p:nvSpPr>
          <p:cNvPr id="3" name="Body 13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챗봇에서 엉뚱한 말 → 자연스럽게 접수로 복귀.</a:t>
            </a:r>
          </a:p>
          <a:p>
            <a:pPr marL="342900" indent="-171450">
              <a:buChar char="•"/>
            </a:pPr>
            <a:r>
              <a:rPr lang="ko-KR" sz="2500"/>
              <a:t>프롬프트 인젝션 → 내부 지시 비공개.</a:t>
            </a:r>
          </a:p>
          <a:p>
            <a:pPr marL="342900" indent="-171450">
              <a:buChar char="•"/>
            </a:pPr>
            <a:r>
              <a:rPr lang="ko-KR" sz="2500"/>
              <a:t>위기 혼합 발화 → 109/1588-9191 안내.</a:t>
            </a:r>
          </a:p>
          <a:p>
            <a:pPr marL="342900" indent="-171450">
              <a:buChar char="•"/>
            </a:pPr>
            <a:r>
              <a:rPr lang="ko-KR" sz="2500"/>
              <a:t>100명 synthetic run → SQLite 적재.</a:t>
            </a:r>
          </a:p>
          <a:p>
            <a:pPr marL="342900" indent="-171450">
              <a:buChar char="•"/>
            </a:pPr>
            <a:r>
              <a:rPr lang="ko-KR" sz="2500"/>
              <a:t>통계 대시보드에서 트랙·슬롯·위기 세션 확인.</a:t>
            </a:r>
          </a:p>
        </p:txBody>
      </p:sp>
      <p:sp>
        <p:nvSpPr>
          <p:cNvPr id="4" name="Footer 13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4"/>
          <p:cNvSpPr txBox="1"/>
          <p:nvPr/>
        </p:nvSpPr>
        <p:spPr>
          <a:xfrm>
            <a:off x="609600" y="457200"/>
            <a:ext cx="79248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800" b="1">
                <a:solidFill>
                  <a:srgbClr val="2F3532"/>
                </a:solidFill>
              </a:rPr>
              <a:t>참고 자료</a:t>
            </a:r>
          </a:p>
        </p:txBody>
      </p:sp>
      <p:sp>
        <p:nvSpPr>
          <p:cNvPr id="3" name="Body 14"/>
          <p:cNvSpPr txBox="1"/>
          <p:nvPr/>
        </p:nvSpPr>
        <p:spPr>
          <a:xfrm>
            <a:off x="762000" y="1676400"/>
            <a:ext cx="7620000" cy="4572000"/>
          </a:xfrm>
          <a:prstGeom prst="roundRect">
            <a:avLst/>
          </a:prstGeom>
          <a:solidFill>
            <a:srgbClr val="FFFDFA"/>
          </a:solidFill>
          <a:ln>
            <a:solidFill>
              <a:srgbClr val="DED8CF"/>
            </a:solidFill>
          </a:ln>
        </p:spPr>
        <p:txBody>
          <a:bodyPr wrap="square" lIns="274320" tIns="228600" rIns="274320" bIns="228600"/>
          <a:lstStyle/>
          <a:p>
            <a:pPr marL="342900" indent="-171450">
              <a:buChar char="•"/>
            </a:pPr>
            <a:r>
              <a:rPr lang="ko-KR" sz="2500"/>
              <a:t>OWASP LLM Prompt Injection Prevention Cheat Sheet.</a:t>
            </a:r>
          </a:p>
          <a:p>
            <a:pPr marL="342900" indent="-171450">
              <a:buChar char="•"/>
            </a:pPr>
            <a:r>
              <a:rPr lang="ko-KR" sz="2500"/>
              <a:t>Microsoft: Defend against indirect prompt injection attacks.</a:t>
            </a:r>
          </a:p>
          <a:p>
            <a:pPr marL="342900" indent="-171450">
              <a:buChar char="•"/>
            </a:pPr>
            <a:r>
              <a:rPr lang="ko-KR" sz="2500"/>
              <a:t>Microsoft Semantic Kernel: unsafe content encoded by default.</a:t>
            </a:r>
          </a:p>
          <a:p>
            <a:pPr marL="342900" indent="-171450">
              <a:buChar char="•"/>
            </a:pPr>
            <a:r>
              <a:rPr lang="ko-KR" sz="2500"/>
              <a:t>NIST CSRC: indirect prompt injection glossary.</a:t>
            </a:r>
          </a:p>
          <a:p>
            <a:pPr marL="342900" indent="-171450">
              <a:buChar char="•"/>
            </a:pPr>
            <a:r>
              <a:rPr lang="ko-KR" sz="2500"/>
              <a:t>NCSC: Prompt injection is not SQL injection.</a:t>
            </a:r>
          </a:p>
          <a:p>
            <a:pPr marL="342900" indent="-171450">
              <a:buChar char="•"/>
            </a:pPr>
            <a:r>
              <a:rPr lang="ko-KR" sz="2500"/>
              <a:t>OpenAI: Understanding prompt injections.</a:t>
            </a:r>
          </a:p>
        </p:txBody>
      </p:sp>
      <p:sp>
        <p:nvSpPr>
          <p:cNvPr id="4" name="Footer 14"/>
          <p:cNvSpPr txBox="1"/>
          <p:nvPr/>
        </p:nvSpPr>
        <p:spPr>
          <a:xfrm>
            <a:off x="609600" y="6480000"/>
            <a:ext cx="79248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ko-KR" sz="1400">
                <a:solidFill>
                  <a:srgbClr val="6F7D77"/>
                </a:solidFill>
              </a:rPr>
              <a:t>chatbot_phaseskill · prompt-injection-aware intake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bot_phaseskill">
  <a:themeElements>
    <a:clrScheme name="Calm">
      <a:dk1>
        <a:srgbClr val="2F3532"/>
      </a:dk1>
      <a:lt1>
        <a:srgbClr val="FFFDFA"/>
      </a:lt1>
      <a:dk2>
        <a:srgbClr val="5F7F76"/>
      </a:dk2>
      <a:lt2>
        <a:srgbClr val="F7F3ED"/>
      </a:lt2>
      <a:accent1>
        <a:srgbClr val="5F7F76"/>
      </a:accent1>
      <a:accent2>
        <a:srgbClr val="7B9189"/>
      </a:accent2>
      <a:accent3>
        <a:srgbClr val="AD654F"/>
      </a:accent3>
      <a:accent4>
        <a:srgbClr val="DED8CF"/>
      </a:accent4>
      <a:accent5>
        <a:srgbClr val="6F7D77"/>
      </a:accent5>
      <a:accent6>
        <a:srgbClr val="EDF3EF"/>
      </a:accent6>
      <a:hlink>
        <a:srgbClr val="5F7F76"/>
      </a:hlink>
      <a:folHlink>
        <a:srgbClr val="7B9189"/>
      </a:folHlink>
    </a:clrScheme>
    <a:fontScheme name="System">
      <a:majorFont>
        <a:latin typeface="Arial"/>
        <a:ea typeface="Apple SD Gothic Neo"/>
      </a:majorFont>
      <a:minorFont>
        <a:latin typeface="Arial"/>
        <a:ea typeface="Apple SD Gothic Neo"/>
      </a:minorFont>
    </a:fontScheme>
    <a:fmtScheme name="Simpl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